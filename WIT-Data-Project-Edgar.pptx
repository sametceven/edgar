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78B7-2F0B-F32A-FE8E-FF11A3343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12532-5950-1534-999E-E85F76E82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7D56E-EEF0-7C16-FA9F-6ECA7944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EB0AF-BFF0-48C4-C8E4-4681989D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E60E2-30A5-96C5-6A2D-B907839B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31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FB77-D410-27F7-32E4-26F2BAB9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46D39-9D5E-10E3-70A4-BC8005CB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97974-94A9-B44A-1D80-1A92DEE3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DE75-2AD4-BC6F-E6B0-9B2803B1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ED2A6-825A-8502-2854-045C9D54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95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BE9E-029D-D763-66B9-0EA8749F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D899F-4345-EA93-1A69-64960DA12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CC730-73BF-35D8-3AA1-2108E04B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9B40C-6BDF-F6F2-5DC1-BFCF9550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A9BEE-1E84-FA33-7F5A-E7D1846E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71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106B-6ED6-F4BF-9BB4-5C270C4D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E34E-EEDD-D090-CB60-BF3A9207B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3A7E0-1F3B-3A79-1188-92C6ACD52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5D8E1-CA21-3334-8C92-789EA937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536F4-647F-EC8F-AC29-754B3853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0D9A2-237C-7EF9-5345-3413C616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44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B4E3-21E3-DD5E-C5DD-A7746C22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DFB3-C03D-D5A8-FB13-31FBFE907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541B8-8DAB-0BA1-9C0B-A46F6949B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464D5-51F2-AE23-36F2-2B2C5BA05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8D229-DBBE-8FCA-982F-C91C4696E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192274-06F1-2417-B789-199443F8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DB3BF-BAC0-DA9A-A352-77449E330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76F8D-69AE-DA33-2B7B-9A7CA4B2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90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ED1C-3137-D539-52EC-1E7B0119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005EC0-1F63-6093-3AC6-E2880431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BB175-CBE2-03E8-C35F-4B1EA85C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F0092-1FE5-38E0-3770-B45081B0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73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862D5-3811-3043-1D3F-45837E09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3F55D1-BE99-0805-587B-9F981ECC4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DF11E-DA8E-4807-8935-957336A2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92BB-EA45-198B-4F41-138401E8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7C5A9-B194-E4C2-9DA1-82C629883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0124F-E9FA-0CF4-0A4C-8B5CA9590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94278-8894-CDCD-5FA7-0A4A20CC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E68CF-9AC8-5D56-0D88-BCB9DE9E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309E2-E533-4EC1-0D65-46D636C7B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7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CC0D3-1BB0-7761-C8F5-288E7066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47231-2B47-95FA-9314-5652894CA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0B44D-8ADA-6B92-6DDD-3A656D152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A9555-A4EE-BADE-3ED1-84DF139F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EECE8-1502-201B-C5E8-E48C828B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32C1A-3EE0-215C-8068-2DBA6655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33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EC0B-0009-4AC1-43C9-C82F7EB7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0E1AA-C633-E1BE-030B-4DB6B4708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4B5D3-B9B9-38DC-6621-2D2448B5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D05E8-933B-C57A-CC7B-D50E81B72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313FA-7AE8-369D-6D59-7B74604B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29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15E4F-B7DE-2F18-C1D4-1E2F1C832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9F793-16B5-9D94-DC85-0A272D209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CB1E8-F3D0-4644-D6A3-1E7D060A4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FCFD7-3E1C-A5D0-FFD5-B47DF0A7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D2330-3D2B-B844-6A17-86CC98A4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26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2CE3C3-4C60-E4EA-4507-DFECCBEA7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C644F-97D7-B501-C88E-80D8F90B1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30F51-B1C1-ABA8-254D-988E4B28E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52EE5-78BC-4F8D-A0B7-1105D886AE86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DF18-9650-F5D8-DB8D-7DB3D6BD9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7A61D-F553-ED07-D16E-A4674CE1D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7D743-5A73-4E25-9866-5920D41275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92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c.gov/files/company_tickers.json" TargetMode="External"/><Relationship Id="rId2" Type="http://schemas.openxmlformats.org/officeDocument/2006/relationships/hyperlink" Target="https://www.sec.gov/Archives/edgar/daily-index/xbrl/companyfacts.zi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ec.gov/Archives/edgar/daily-index/bulkdata/submissions.zip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29067-6D2D-79D5-56B9-2D8972D4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A3BF049-D103-1362-D674-AF479EEC6E7C}"/>
              </a:ext>
            </a:extLst>
          </p:cNvPr>
          <p:cNvSpPr/>
          <p:nvPr/>
        </p:nvSpPr>
        <p:spPr>
          <a:xfrm>
            <a:off x="0" y="0"/>
            <a:ext cx="12192000" cy="3852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1"/>
                </a:solidFill>
              </a:rPr>
              <a:t>DATA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4F91EB-112E-589E-5878-71D2A1FF436D}"/>
              </a:ext>
            </a:extLst>
          </p:cNvPr>
          <p:cNvSpPr/>
          <p:nvPr/>
        </p:nvSpPr>
        <p:spPr>
          <a:xfrm>
            <a:off x="82736" y="508523"/>
            <a:ext cx="3725334" cy="3852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Data 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72F96-6FE1-C6F1-D6AC-97D48689C42D}"/>
              </a:ext>
            </a:extLst>
          </p:cNvPr>
          <p:cNvSpPr txBox="1"/>
          <p:nvPr/>
        </p:nvSpPr>
        <p:spPr>
          <a:xfrm>
            <a:off x="82735" y="943246"/>
            <a:ext cx="710123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effectLst/>
                <a:latin typeface="Calibri" panose="020F0502020204030204" pitchFamily="34" charset="0"/>
              </a:rPr>
              <a:t>SEC API</a:t>
            </a:r>
          </a:p>
          <a:p>
            <a:pPr marL="0" marR="0">
              <a:buNone/>
            </a:pPr>
            <a:endParaRPr lang="en-GB" sz="1100" dirty="0"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GB" sz="1100" b="1" dirty="0">
                <a:effectLst/>
                <a:latin typeface="Calibri" panose="020F0502020204030204" pitchFamily="34" charset="0"/>
              </a:rPr>
              <a:t>Documentation:</a:t>
            </a:r>
          </a:p>
          <a:p>
            <a:r>
              <a:rPr lang="en-GB" sz="1100" dirty="0">
                <a:effectLst/>
                <a:latin typeface="Calibri" panose="020F0502020204030204" pitchFamily="34" charset="0"/>
              </a:rPr>
              <a:t>https://www.sec.gov/search-filings/edgar-application-programming-interfaces</a:t>
            </a:r>
          </a:p>
          <a:p>
            <a:pPr marL="0" marR="0">
              <a:buNone/>
            </a:pP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GB" sz="1100" b="1" dirty="0">
                <a:latin typeface="Calibri" panose="020F0502020204030204" pitchFamily="34" charset="0"/>
              </a:rPr>
              <a:t>Endpoints:</a:t>
            </a:r>
          </a:p>
          <a:p>
            <a:r>
              <a:rPr lang="en-GB" sz="1100" dirty="0">
                <a:effectLst/>
                <a:latin typeface="Calibri" panose="020F0502020204030204" pitchFamily="34" charset="0"/>
                <a:hlinkClick r:id="rId2"/>
              </a:rPr>
              <a:t>https://www.sec.gov/Archives/edgar/daily-index/xbrl/companyfacts.zip</a:t>
            </a:r>
            <a:r>
              <a:rPr lang="en-GB" sz="1100" dirty="0">
                <a:effectLst/>
                <a:latin typeface="Calibri" panose="020F0502020204030204" pitchFamily="34" charset="0"/>
              </a:rPr>
              <a:t> =&gt; Company Financial Data (</a:t>
            </a:r>
            <a:r>
              <a:rPr lang="en-GB" sz="1100" dirty="0" err="1">
                <a:effectLst/>
                <a:latin typeface="Calibri" panose="020F0502020204030204" pitchFamily="34" charset="0"/>
              </a:rPr>
              <a:t>14GB</a:t>
            </a:r>
            <a:r>
              <a:rPr lang="en-GB" sz="1100" dirty="0">
                <a:effectLst/>
                <a:latin typeface="Calibri" panose="020F0502020204030204" pitchFamily="34" charset="0"/>
              </a:rPr>
              <a:t>)</a:t>
            </a:r>
            <a:endParaRPr lang="en-GB" sz="1100" b="1" dirty="0">
              <a:latin typeface="Calibri" panose="020F0502020204030204" pitchFamily="34" charset="0"/>
            </a:endParaRPr>
          </a:p>
          <a:p>
            <a:r>
              <a:rPr lang="en-GB" sz="1100" dirty="0">
                <a:hlinkClick r:id="rId3"/>
              </a:rPr>
              <a:t>https://www.sec.gov/files/company_tickers.json</a:t>
            </a:r>
            <a:r>
              <a:rPr lang="en-GB" sz="1100" dirty="0"/>
              <a:t> =&gt; Company Data (</a:t>
            </a:r>
            <a:r>
              <a:rPr lang="en-GB" sz="1100" dirty="0" err="1"/>
              <a:t>2MB</a:t>
            </a:r>
            <a:r>
              <a:rPr lang="en-GB" sz="1100" dirty="0"/>
              <a:t>)</a:t>
            </a:r>
            <a:endParaRPr lang="en-GB" sz="1100" b="1" dirty="0">
              <a:effectLst/>
              <a:latin typeface="Calibri" panose="020F0502020204030204" pitchFamily="34" charset="0"/>
            </a:endParaRPr>
          </a:p>
          <a:p>
            <a:r>
              <a:rPr lang="en-GB" sz="1100" dirty="0">
                <a:effectLst/>
                <a:latin typeface="Calibri" panose="020F0502020204030204" pitchFamily="34" charset="0"/>
                <a:hlinkClick r:id="rId4"/>
              </a:rPr>
              <a:t>https://www.sec.gov/Archives/edgar/daily-index/bulkdata/submissions.zip</a:t>
            </a:r>
            <a:r>
              <a:rPr lang="en-GB" sz="1100" dirty="0">
                <a:effectLst/>
                <a:latin typeface="Calibri" panose="020F0502020204030204" pitchFamily="34" charset="0"/>
              </a:rPr>
              <a:t> =&gt; Filing History per Company (</a:t>
            </a:r>
            <a:r>
              <a:rPr lang="en-GB" sz="1100" dirty="0" err="1">
                <a:effectLst/>
                <a:latin typeface="Calibri" panose="020F0502020204030204" pitchFamily="34" charset="0"/>
              </a:rPr>
              <a:t>4GB</a:t>
            </a:r>
            <a:r>
              <a:rPr lang="en-GB" sz="1100" dirty="0">
                <a:effectLst/>
                <a:latin typeface="Calibri" panose="020F0502020204030204" pitchFamily="34" charset="0"/>
              </a:rPr>
              <a:t>)</a:t>
            </a:r>
          </a:p>
          <a:p>
            <a:pPr marL="0" marR="0">
              <a:buNone/>
            </a:pPr>
            <a:endParaRPr lang="en-GB" sz="1100" dirty="0">
              <a:latin typeface="Calibri" panose="020F0502020204030204" pitchFamily="34" charset="0"/>
            </a:endParaRPr>
          </a:p>
          <a:p>
            <a:r>
              <a:rPr lang="en-GB" sz="1100" dirty="0"/>
              <a:t>Filtered to S&amp;P 500 + Russell 1000 (~1,000 companies, last 10 years) at load time — bulk ZIPs are all-or-nothing, so filtering happens locally to keep </a:t>
            </a:r>
            <a:r>
              <a:rPr lang="en-GB" sz="1100" dirty="0" err="1"/>
              <a:t>BigQuery</a:t>
            </a:r>
            <a:r>
              <a:rPr lang="en-GB" sz="1100" dirty="0"/>
              <a:t> storage and query costs manageable.</a:t>
            </a:r>
            <a:endParaRPr lang="en-GB" sz="11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EEA83F-ACF3-262E-AF7B-0C949C61277D}"/>
              </a:ext>
            </a:extLst>
          </p:cNvPr>
          <p:cNvSpPr/>
          <p:nvPr/>
        </p:nvSpPr>
        <p:spPr>
          <a:xfrm>
            <a:off x="82735" y="3594147"/>
            <a:ext cx="12026530" cy="3852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RAW TABLES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BF750-0F25-8643-F449-94D81B1E32E3}"/>
              </a:ext>
            </a:extLst>
          </p:cNvPr>
          <p:cNvSpPr txBox="1"/>
          <p:nvPr/>
        </p:nvSpPr>
        <p:spPr>
          <a:xfrm>
            <a:off x="82735" y="3979380"/>
            <a:ext cx="3570632" cy="26161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raw_</a:t>
            </a:r>
            <a:r>
              <a:rPr lang="en-GB" sz="11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company_facts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50300E-2E3B-69E7-3A81-38E89EFA4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28473"/>
              </p:ext>
            </p:extLst>
          </p:nvPr>
        </p:nvGraphicFramePr>
        <p:xfrm>
          <a:off x="82735" y="4240989"/>
          <a:ext cx="3570632" cy="2329680"/>
        </p:xfrm>
        <a:graphic>
          <a:graphicData uri="http://schemas.openxmlformats.org/drawingml/2006/table">
            <a:tbl>
              <a:tblPr/>
              <a:tblGrid>
                <a:gridCol w="644258">
                  <a:extLst>
                    <a:ext uri="{9D8B030D-6E8A-4147-A177-3AD203B41FA5}">
                      <a16:colId xmlns:a16="http://schemas.microsoft.com/office/drawing/2014/main" val="4164561941"/>
                    </a:ext>
                  </a:extLst>
                </a:gridCol>
                <a:gridCol w="2926374">
                  <a:extLst>
                    <a:ext uri="{9D8B030D-6E8A-4147-A177-3AD203B41FA5}">
                      <a16:colId xmlns:a16="http://schemas.microsoft.com/office/drawing/2014/main" val="268123916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GRAIN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One row per (company, concept, period, filing)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173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cik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entity_name</a:t>
                      </a:r>
                      <a:r>
                        <a:rPr lang="en-GB" sz="1000" dirty="0"/>
                        <a:t>, namespace, concept, unit, </a:t>
                      </a:r>
                      <a:r>
                        <a:rPr lang="en-GB" sz="1000" dirty="0" err="1"/>
                        <a:t>period_start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period_end</a:t>
                      </a:r>
                      <a:r>
                        <a:rPr lang="en-GB" sz="1000" dirty="0"/>
                        <a:t>, value, </a:t>
                      </a:r>
                      <a:r>
                        <a:rPr lang="en-GB" sz="1000" dirty="0" err="1"/>
                        <a:t>accession_no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fiscal_year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fiscal_period</a:t>
                      </a:r>
                      <a:r>
                        <a:rPr lang="en-GB" sz="1000" dirty="0"/>
                        <a:t>, form, </a:t>
                      </a:r>
                      <a:r>
                        <a:rPr lang="en-GB" sz="1000" dirty="0" err="1"/>
                        <a:t>filed_date</a:t>
                      </a:r>
                      <a:r>
                        <a:rPr lang="en-GB" sz="1000" dirty="0"/>
                        <a:t>,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207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~</a:t>
                      </a:r>
                      <a:r>
                        <a:rPr lang="en-GB" sz="1000" dirty="0" err="1"/>
                        <a:t>15M</a:t>
                      </a:r>
                      <a:r>
                        <a:rPr lang="en-GB" sz="1000" dirty="0"/>
                        <a:t> rows / 3-5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807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companyfacts.zip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6508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DIRT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Multiple values per period (restatements); inconsistent concept tags across companies (Revenues vs </a:t>
                      </a:r>
                      <a:r>
                        <a:rPr lang="en-GB" sz="1000" dirty="0" err="1"/>
                        <a:t>SalesRevenueNet</a:t>
                      </a:r>
                      <a:r>
                        <a:rPr lang="en-GB" sz="1000" dirty="0"/>
                        <a:t>); mixed units (USD, shares, pure)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7786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1AC74C1-F962-B33D-88E1-76CC0074A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08777"/>
              </p:ext>
            </p:extLst>
          </p:nvPr>
        </p:nvGraphicFramePr>
        <p:xfrm>
          <a:off x="4310684" y="4240990"/>
          <a:ext cx="3570632" cy="2177280"/>
        </p:xfrm>
        <a:graphic>
          <a:graphicData uri="http://schemas.openxmlformats.org/drawingml/2006/table">
            <a:tbl>
              <a:tblPr/>
              <a:tblGrid>
                <a:gridCol w="673012">
                  <a:extLst>
                    <a:ext uri="{9D8B030D-6E8A-4147-A177-3AD203B41FA5}">
                      <a16:colId xmlns:a16="http://schemas.microsoft.com/office/drawing/2014/main" val="3815525269"/>
                    </a:ext>
                  </a:extLst>
                </a:gridCol>
                <a:gridCol w="2897620">
                  <a:extLst>
                    <a:ext uri="{9D8B030D-6E8A-4147-A177-3AD203B41FA5}">
                      <a16:colId xmlns:a16="http://schemas.microsoft.com/office/drawing/2014/main" val="306329164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GRAIN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One row per 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86145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cik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entity_name</a:t>
                      </a:r>
                      <a:r>
                        <a:rPr lang="en-GB" sz="1000" dirty="0"/>
                        <a:t>, ticker, exchange, </a:t>
                      </a:r>
                      <a:r>
                        <a:rPr lang="en-GB" sz="1000" dirty="0" err="1"/>
                        <a:t>sic_code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sic_description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state_of_incorporation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fiscal_year_end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ein</a:t>
                      </a:r>
                      <a:r>
                        <a:rPr lang="en-GB" sz="1000" dirty="0"/>
                        <a:t>,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51092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~</a:t>
                      </a:r>
                      <a:r>
                        <a:rPr lang="en-GB" sz="1000" dirty="0" err="1"/>
                        <a:t>1k</a:t>
                      </a:r>
                      <a:r>
                        <a:rPr lang="en-GB" sz="1000" dirty="0"/>
                        <a:t> rows / &lt;1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4757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</a:t>
                      </a:r>
                      <a:r>
                        <a:rPr lang="en-GB" sz="1000"/>
                        <a:t>ompany</a:t>
                      </a:r>
                      <a:r>
                        <a:rPr lang="en-GB" sz="1000" dirty="0" err="1"/>
                        <a:t>_</a:t>
                      </a:r>
                      <a:r>
                        <a:rPr lang="en-GB" sz="1000" err="1"/>
                        <a:t>tickers</a:t>
                      </a:r>
                      <a:r>
                        <a:rPr lang="en-GB" sz="1000"/>
                        <a:t>.json</a:t>
                      </a:r>
                      <a:r>
                        <a:rPr lang="en-GB" sz="1000" dirty="0"/>
                        <a:t>(top-level fields)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9565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DIRT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Foreign filers have null tickers; SIC codes occasionally missing; </a:t>
                      </a:r>
                      <a:r>
                        <a:rPr lang="en-GB" sz="1000" dirty="0" err="1"/>
                        <a:t>former_names</a:t>
                      </a:r>
                      <a:r>
                        <a:rPr lang="en-GB" sz="1000" dirty="0"/>
                        <a:t> stored as nested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371894"/>
                  </a:ext>
                </a:extLst>
              </a:tr>
            </a:tbl>
          </a:graphicData>
        </a:graphic>
      </p:graphicFrame>
      <p:sp>
        <p:nvSpPr>
          <p:cNvPr id="18" name="Rectangle 2">
            <a:extLst>
              <a:ext uri="{FF2B5EF4-FFF2-40B4-BE49-F238E27FC236}">
                <a16:creationId xmlns:a16="http://schemas.microsoft.com/office/drawing/2014/main" id="{FBC28882-F2B0-814E-DE81-EA7A9097E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03" y="36859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092A2C-599E-E048-8540-0DAB0B87CFE0}"/>
              </a:ext>
            </a:extLst>
          </p:cNvPr>
          <p:cNvSpPr txBox="1"/>
          <p:nvPr/>
        </p:nvSpPr>
        <p:spPr>
          <a:xfrm>
            <a:off x="4310684" y="3979380"/>
            <a:ext cx="3570632" cy="26161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raw_companies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73FD45-2D73-55FB-1266-977163ACC6F5}"/>
              </a:ext>
            </a:extLst>
          </p:cNvPr>
          <p:cNvSpPr txBox="1"/>
          <p:nvPr/>
        </p:nvSpPr>
        <p:spPr>
          <a:xfrm>
            <a:off x="8538633" y="3979380"/>
            <a:ext cx="3570632" cy="26161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raw_filings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029B0C9-B95D-56BC-F411-9732CC0DD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039806"/>
              </p:ext>
            </p:extLst>
          </p:nvPr>
        </p:nvGraphicFramePr>
        <p:xfrm>
          <a:off x="8538632" y="4240990"/>
          <a:ext cx="3570632" cy="2177280"/>
        </p:xfrm>
        <a:graphic>
          <a:graphicData uri="http://schemas.openxmlformats.org/drawingml/2006/table">
            <a:tbl>
              <a:tblPr/>
              <a:tblGrid>
                <a:gridCol w="1038733">
                  <a:extLst>
                    <a:ext uri="{9D8B030D-6E8A-4147-A177-3AD203B41FA5}">
                      <a16:colId xmlns:a16="http://schemas.microsoft.com/office/drawing/2014/main" val="1842635822"/>
                    </a:ext>
                  </a:extLst>
                </a:gridCol>
                <a:gridCol w="2531899">
                  <a:extLst>
                    <a:ext uri="{9D8B030D-6E8A-4147-A177-3AD203B41FA5}">
                      <a16:colId xmlns:a16="http://schemas.microsoft.com/office/drawing/2014/main" val="4193971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GRAIN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One row per filing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9361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cik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accession_no</a:t>
                      </a:r>
                      <a:r>
                        <a:rPr lang="en-GB" sz="1000" dirty="0"/>
                        <a:t>, form, </a:t>
                      </a:r>
                      <a:r>
                        <a:rPr lang="en-GB" sz="1000" dirty="0" err="1"/>
                        <a:t>filing_date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report_date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primary_document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is_xbrl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is_inline_xbrl</a:t>
                      </a:r>
                      <a:r>
                        <a:rPr lang="en-GB" sz="1000" dirty="0"/>
                        <a:t>, items,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4091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~</a:t>
                      </a:r>
                      <a:r>
                        <a:rPr lang="en-GB" sz="1000" dirty="0" err="1"/>
                        <a:t>150k</a:t>
                      </a:r>
                      <a:r>
                        <a:rPr lang="en-GB" sz="1000" dirty="0"/>
                        <a:t> rows / ~50 MB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1463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submissions.zip (</a:t>
                      </a:r>
                      <a:r>
                        <a:rPr lang="en-GB" sz="1000" dirty="0" err="1"/>
                        <a:t>filings.recent</a:t>
                      </a:r>
                      <a:r>
                        <a:rPr lang="en-GB" sz="1000" dirty="0"/>
                        <a:t> + </a:t>
                      </a:r>
                      <a:r>
                        <a:rPr lang="en-GB" sz="1000" dirty="0" err="1"/>
                        <a:t>filings.files</a:t>
                      </a:r>
                      <a:r>
                        <a:rPr lang="en-GB" sz="10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17611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DIRT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Amended filings (10-K/A) reference originals by </a:t>
                      </a:r>
                      <a:r>
                        <a:rPr lang="en-GB" sz="1000" dirty="0" err="1"/>
                        <a:t>report_date</a:t>
                      </a:r>
                      <a:r>
                        <a:rPr lang="en-GB" sz="1000" dirty="0"/>
                        <a:t> with no direct FK; parallel-array JSON shape requires flattening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45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459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5FAD-9F5D-2B13-AB2D-AEBC1B0E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DC154A5-C746-D88C-B370-7CB671AC73E0}"/>
              </a:ext>
            </a:extLst>
          </p:cNvPr>
          <p:cNvSpPr/>
          <p:nvPr/>
        </p:nvSpPr>
        <p:spPr>
          <a:xfrm>
            <a:off x="0" y="0"/>
            <a:ext cx="12192000" cy="3852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1"/>
                </a:solidFill>
              </a:rPr>
              <a:t>PROBLEM AND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ACD11-403F-ABAD-8CCF-E85FB03289CB}"/>
              </a:ext>
            </a:extLst>
          </p:cNvPr>
          <p:cNvSpPr/>
          <p:nvPr/>
        </p:nvSpPr>
        <p:spPr>
          <a:xfrm>
            <a:off x="82736" y="508523"/>
            <a:ext cx="3570632" cy="3852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Main Data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CDD13AC9-B921-7D41-352F-0B9AF7532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903" y="36859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4A79725-31A2-7552-161F-3FCBF8B15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35427"/>
              </p:ext>
            </p:extLst>
          </p:nvPr>
        </p:nvGraphicFramePr>
        <p:xfrm>
          <a:off x="82737" y="1294880"/>
          <a:ext cx="3570633" cy="4811124"/>
        </p:xfrm>
        <a:graphic>
          <a:graphicData uri="http://schemas.openxmlformats.org/drawingml/2006/table">
            <a:tbl>
              <a:tblPr/>
              <a:tblGrid>
                <a:gridCol w="975035">
                  <a:extLst>
                    <a:ext uri="{9D8B030D-6E8A-4147-A177-3AD203B41FA5}">
                      <a16:colId xmlns:a16="http://schemas.microsoft.com/office/drawing/2014/main" val="3232715445"/>
                    </a:ext>
                  </a:extLst>
                </a:gridCol>
                <a:gridCol w="1405387">
                  <a:extLst>
                    <a:ext uri="{9D8B030D-6E8A-4147-A177-3AD203B41FA5}">
                      <a16:colId xmlns:a16="http://schemas.microsoft.com/office/drawing/2014/main" val="2845268040"/>
                    </a:ext>
                  </a:extLst>
                </a:gridCol>
                <a:gridCol w="1190211">
                  <a:extLst>
                    <a:ext uri="{9D8B030D-6E8A-4147-A177-3AD203B41FA5}">
                      <a16:colId xmlns:a16="http://schemas.microsoft.com/office/drawing/2014/main" val="3431157765"/>
                    </a:ext>
                  </a:extLst>
                </a:gridCol>
              </a:tblGrid>
              <a:tr h="178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Category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Example concepts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Use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697256"/>
                  </a:ext>
                </a:extLst>
              </a:tr>
              <a:tr h="433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Income statement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Revenues, GrossProfit, OperatingIncomeLoss, NetIncomeLoss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Revenue prediction, margin analysis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73447"/>
                  </a:ext>
                </a:extLst>
              </a:tr>
              <a:tr h="336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Balance sheet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Assets, Liabilities, </a:t>
                      </a:r>
                      <a:r>
                        <a:rPr lang="en-GB" sz="1000" dirty="0" err="1"/>
                        <a:t>StockholdersEquity</a:t>
                      </a:r>
                      <a:r>
                        <a:rPr lang="en-GB" sz="1000" dirty="0"/>
                        <a:t>, Cash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Leverage, liquidity ratios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255643"/>
                  </a:ext>
                </a:extLst>
              </a:tr>
              <a:tr h="305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Cash flow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NetCashProvidedByOperatingActivities, CapitalExpenditures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Free cash flow, capex intensity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196234"/>
                  </a:ext>
                </a:extLst>
              </a:tr>
              <a:tr h="305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Per-share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EarningsPerShareBasic, EarningsPerShareDiluted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Valuation features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06824"/>
                  </a:ext>
                </a:extLst>
              </a:tr>
              <a:tr h="433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Share counts</a:t>
                      </a:r>
                      <a:endParaRPr lang="en-GB" sz="1000" dirty="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CommonStockSharesOutstanding, WeightedAverageNumberOfSharesOutstandingBasic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Market cap derivation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069358"/>
                  </a:ext>
                </a:extLst>
              </a:tr>
              <a:tr h="433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Tax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IncomeTaxExpenseBenefit, EffectiveIncomeTaxRateContinuingOperations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Tax efficiency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782731"/>
                  </a:ext>
                </a:extLst>
              </a:tr>
              <a:tr h="56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Operating detail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ResearchAndDevelopmentExpense</a:t>
                      </a:r>
                      <a:r>
                        <a:rPr lang="en-GB" sz="1000" dirty="0"/>
                        <a:t>, </a:t>
                      </a:r>
                      <a:r>
                        <a:rPr lang="en-GB" sz="1000" dirty="0" err="1"/>
                        <a:t>SellingGeneralAndAdministrativeExpense</a:t>
                      </a:r>
                      <a:endParaRPr lang="en-GB" sz="1000" dirty="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R&amp;D intensity, </a:t>
                      </a:r>
                      <a:r>
                        <a:rPr lang="en-GB" sz="1000" dirty="0" err="1"/>
                        <a:t>opex</a:t>
                      </a:r>
                      <a:r>
                        <a:rPr lang="en-GB" sz="1000" dirty="0"/>
                        <a:t> structure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339806"/>
                  </a:ext>
                </a:extLst>
              </a:tr>
              <a:tr h="305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Entity metadata (dei)</a:t>
                      </a:r>
                      <a:endParaRPr lang="en-GB" sz="1000"/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EntityCommonStockSharesOutstanding, EntityPublicFloat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Filer characteristics</a:t>
                      </a:r>
                    </a:p>
                  </a:txBody>
                  <a:tcPr marL="60435" marR="60435" marT="30218" marB="30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5276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6EB12F-44CD-5809-732B-87DFBB487654}"/>
              </a:ext>
            </a:extLst>
          </p:cNvPr>
          <p:cNvSpPr txBox="1"/>
          <p:nvPr/>
        </p:nvSpPr>
        <p:spPr>
          <a:xfrm>
            <a:off x="82736" y="893756"/>
            <a:ext cx="3570632" cy="26161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Available data from </a:t>
            </a:r>
            <a:r>
              <a:rPr lang="en-GB" sz="11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raw_</a:t>
            </a:r>
            <a:r>
              <a:rPr lang="en-GB" sz="11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company_facts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1AE570-0963-912F-43ED-09277C7D3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85649"/>
              </p:ext>
            </p:extLst>
          </p:nvPr>
        </p:nvGraphicFramePr>
        <p:xfrm>
          <a:off x="4307647" y="941336"/>
          <a:ext cx="3215569" cy="1920240"/>
        </p:xfrm>
        <a:graphic>
          <a:graphicData uri="http://schemas.openxmlformats.org/drawingml/2006/table">
            <a:tbl>
              <a:tblPr/>
              <a:tblGrid>
                <a:gridCol w="759516">
                  <a:extLst>
                    <a:ext uri="{9D8B030D-6E8A-4147-A177-3AD203B41FA5}">
                      <a16:colId xmlns:a16="http://schemas.microsoft.com/office/drawing/2014/main" val="3370248788"/>
                    </a:ext>
                  </a:extLst>
                </a:gridCol>
                <a:gridCol w="2456053">
                  <a:extLst>
                    <a:ext uri="{9D8B030D-6E8A-4147-A177-3AD203B41FA5}">
                      <a16:colId xmlns:a16="http://schemas.microsoft.com/office/drawing/2014/main" val="3693359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Question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Can fundamentals predict next-quarter revenue growth?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581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Model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45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Target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Revenue growth (next quarter, 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703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Features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Lagged growth, margins, asset turnover, sector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601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Metrics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R², RMSE, 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46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Mart Source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mart_revenue_panel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1731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880B24-02FF-5FBE-ADBE-85B2C4F9E532}"/>
              </a:ext>
            </a:extLst>
          </p:cNvPr>
          <p:cNvSpPr txBox="1"/>
          <p:nvPr/>
        </p:nvSpPr>
        <p:spPr>
          <a:xfrm>
            <a:off x="4355317" y="510449"/>
            <a:ext cx="3167899" cy="4308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Supervised (labelled)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latin typeface="Calibri" panose="020F0502020204030204" pitchFamily="34" charset="0"/>
              </a:rPr>
              <a:t>Regression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08692-8462-DC42-0A44-94AC723F02F1}"/>
              </a:ext>
            </a:extLst>
          </p:cNvPr>
          <p:cNvSpPr txBox="1"/>
          <p:nvPr/>
        </p:nvSpPr>
        <p:spPr>
          <a:xfrm>
            <a:off x="8311958" y="510449"/>
            <a:ext cx="3167899" cy="4308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Supervised (labelled)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latin typeface="Calibri" panose="020F0502020204030204" pitchFamily="34" charset="0"/>
              </a:rPr>
              <a:t>Classification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16CC43-9BFE-8711-5413-D8B587141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55499"/>
              </p:ext>
            </p:extLst>
          </p:nvPr>
        </p:nvGraphicFramePr>
        <p:xfrm>
          <a:off x="8311958" y="941336"/>
          <a:ext cx="3207644" cy="1920240"/>
        </p:xfrm>
        <a:graphic>
          <a:graphicData uri="http://schemas.openxmlformats.org/drawingml/2006/table">
            <a:tbl>
              <a:tblPr/>
              <a:tblGrid>
                <a:gridCol w="770067">
                  <a:extLst>
                    <a:ext uri="{9D8B030D-6E8A-4147-A177-3AD203B41FA5}">
                      <a16:colId xmlns:a16="http://schemas.microsoft.com/office/drawing/2014/main" val="626003524"/>
                    </a:ext>
                  </a:extLst>
                </a:gridCol>
                <a:gridCol w="2437577">
                  <a:extLst>
                    <a:ext uri="{9D8B030D-6E8A-4147-A177-3AD203B41FA5}">
                      <a16:colId xmlns:a16="http://schemas.microsoft.com/office/drawing/2014/main" val="1934870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Question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Which filings are likely to be amended later?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62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Model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955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Target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was_restated (binary)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071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Features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Filing complexity, days late, custom-tag count, YoY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638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Metrics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Precision, Recall, 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46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Mart Source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mart_filing_features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2368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6EFDBBD-B74D-F4AA-F3F7-1E195A995315}"/>
              </a:ext>
            </a:extLst>
          </p:cNvPr>
          <p:cNvSpPr txBox="1"/>
          <p:nvPr/>
        </p:nvSpPr>
        <p:spPr>
          <a:xfrm>
            <a:off x="4355316" y="3062831"/>
            <a:ext cx="3167899" cy="4308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Unsupervised (unlabelled) – 1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bg1"/>
                </a:solidFill>
                <a:latin typeface="Calibri" panose="020F0502020204030204" pitchFamily="34" charset="0"/>
              </a:rPr>
              <a:t>Clustering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FA6C5BB-A394-D5DF-8D08-F7E728F27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524283"/>
              </p:ext>
            </p:extLst>
          </p:nvPr>
        </p:nvGraphicFramePr>
        <p:xfrm>
          <a:off x="4331481" y="3493718"/>
          <a:ext cx="3167899" cy="2072640"/>
        </p:xfrm>
        <a:graphic>
          <a:graphicData uri="http://schemas.openxmlformats.org/drawingml/2006/table">
            <a:tbl>
              <a:tblPr/>
              <a:tblGrid>
                <a:gridCol w="819893">
                  <a:extLst>
                    <a:ext uri="{9D8B030D-6E8A-4147-A177-3AD203B41FA5}">
                      <a16:colId xmlns:a16="http://schemas.microsoft.com/office/drawing/2014/main" val="3800907439"/>
                    </a:ext>
                  </a:extLst>
                </a:gridCol>
                <a:gridCol w="2348006">
                  <a:extLst>
                    <a:ext uri="{9D8B030D-6E8A-4147-A177-3AD203B41FA5}">
                      <a16:colId xmlns:a16="http://schemas.microsoft.com/office/drawing/2014/main" val="112694498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Question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How do public companies cluster by capital allocation strategy?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8788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Model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K-means + </a:t>
                      </a:r>
                      <a:r>
                        <a:rPr lang="en-GB" sz="1000" dirty="0" err="1"/>
                        <a:t>DBSCAN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1815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Target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Unsupervised — discover strategy archetypes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2674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Features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Capex / </a:t>
                      </a:r>
                      <a:r>
                        <a:rPr lang="en-GB" sz="1000" dirty="0" err="1"/>
                        <a:t>OpCF</a:t>
                      </a:r>
                      <a:r>
                        <a:rPr lang="en-GB" sz="1000" dirty="0"/>
                        <a:t>, R&amp;D / </a:t>
                      </a:r>
                      <a:r>
                        <a:rPr lang="en-GB" sz="1000" dirty="0" err="1"/>
                        <a:t>OpCF</a:t>
                      </a:r>
                      <a:r>
                        <a:rPr lang="en-GB" sz="1000" dirty="0"/>
                        <a:t>, Buybacks / </a:t>
                      </a:r>
                      <a:r>
                        <a:rPr lang="en-GB" sz="1000" dirty="0" err="1"/>
                        <a:t>OpCF</a:t>
                      </a:r>
                      <a:r>
                        <a:rPr lang="en-GB" sz="1000" dirty="0"/>
                        <a:t>, Dividends / </a:t>
                      </a:r>
                      <a:r>
                        <a:rPr lang="en-GB" sz="1000" dirty="0" err="1"/>
                        <a:t>OpCF</a:t>
                      </a:r>
                      <a:r>
                        <a:rPr lang="en-GB" sz="1000" dirty="0"/>
                        <a:t>, M&amp;A / </a:t>
                      </a:r>
                      <a:r>
                        <a:rPr lang="en-GB" sz="1000" dirty="0" err="1"/>
                        <a:t>OpCF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31301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Metrics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Silhouette, inertia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4829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Mart Source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mart_company_capital_allocation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18471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CF16D12-2702-33C3-18BB-223905BF5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295436"/>
              </p:ext>
            </p:extLst>
          </p:nvPr>
        </p:nvGraphicFramePr>
        <p:xfrm>
          <a:off x="8331830" y="3493718"/>
          <a:ext cx="3167900" cy="2072640"/>
        </p:xfrm>
        <a:graphic>
          <a:graphicData uri="http://schemas.openxmlformats.org/drawingml/2006/table">
            <a:tbl>
              <a:tblPr/>
              <a:tblGrid>
                <a:gridCol w="1016222">
                  <a:extLst>
                    <a:ext uri="{9D8B030D-6E8A-4147-A177-3AD203B41FA5}">
                      <a16:colId xmlns:a16="http://schemas.microsoft.com/office/drawing/2014/main" val="139733722"/>
                    </a:ext>
                  </a:extLst>
                </a:gridCol>
                <a:gridCol w="2151678">
                  <a:extLst>
                    <a:ext uri="{9D8B030D-6E8A-4147-A177-3AD203B41FA5}">
                      <a16:colId xmlns:a16="http://schemas.microsoft.com/office/drawing/2014/main" val="82423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Question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How do companies group by financial health and risk profile?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489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Model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K-means + DBSCAN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553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Target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Unsupervised — discover health archetypes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482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/>
                        <a:t>Features</a:t>
                      </a:r>
                      <a:endParaRPr lang="en-GB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Profitability (margins), leverage (debt/equity), liquidity (current ratio), growth trajectory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605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Metrics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Silhouette, inertia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677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/>
                        <a:t>Mart Source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mart_company_health</a:t>
                      </a:r>
                      <a:endParaRPr lang="en-GB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06975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C998D32F-603D-35B0-B770-A4FC51DA95B7}"/>
              </a:ext>
            </a:extLst>
          </p:cNvPr>
          <p:cNvSpPr txBox="1"/>
          <p:nvPr/>
        </p:nvSpPr>
        <p:spPr>
          <a:xfrm>
            <a:off x="8331830" y="3062831"/>
            <a:ext cx="3167899" cy="4308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Unsupervised (unlabelled) – 2</a:t>
            </a:r>
          </a:p>
          <a:p>
            <a:r>
              <a:rPr lang="en-GB" sz="1100" b="1" dirty="0">
                <a:solidFill>
                  <a:schemeClr val="bg1"/>
                </a:solidFill>
                <a:latin typeface="Calibri" panose="020F0502020204030204" pitchFamily="34" charset="0"/>
              </a:rPr>
              <a:t>Clustering</a:t>
            </a:r>
            <a:endParaRPr lang="en-GB" sz="1100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495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C0DE06-850B-1512-E10E-F79E9B693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039774"/>
              </p:ext>
            </p:extLst>
          </p:nvPr>
        </p:nvGraphicFramePr>
        <p:xfrm>
          <a:off x="252069" y="469000"/>
          <a:ext cx="4372661" cy="1849120"/>
        </p:xfrm>
        <a:graphic>
          <a:graphicData uri="http://schemas.openxmlformats.org/drawingml/2006/table">
            <a:tbl>
              <a:tblPr/>
              <a:tblGrid>
                <a:gridCol w="609905">
                  <a:extLst>
                    <a:ext uri="{9D8B030D-6E8A-4147-A177-3AD203B41FA5}">
                      <a16:colId xmlns:a16="http://schemas.microsoft.com/office/drawing/2014/main" val="2319486568"/>
                    </a:ext>
                  </a:extLst>
                </a:gridCol>
                <a:gridCol w="3762756">
                  <a:extLst>
                    <a:ext uri="{9D8B030D-6E8A-4147-A177-3AD203B41FA5}">
                      <a16:colId xmlns:a16="http://schemas.microsoft.com/office/drawing/2014/main" val="2303423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stage 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python reads from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edgar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api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, converts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json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to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sql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format, writes to big query raw tables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62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stage 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EDA on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bigquery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console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082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stage 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transformation via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dbt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core, .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yml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and .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sql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files in repo,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py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cli triggers, outputs dim/fact/int/mart tables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47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stage 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py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reads from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bigquery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, does ml, writes ml results to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bigquery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ml tables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513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>
                          <a:effectLst/>
                          <a:latin typeface="Calibri" panose="020F0502020204030204" pitchFamily="34" charset="0"/>
                        </a:rPr>
                        <a:t>stage 5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buNone/>
                      </a:pP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powerbi</a:t>
                      </a:r>
                      <a:r>
                        <a:rPr lang="en-GB" sz="1100" dirty="0">
                          <a:effectLst/>
                          <a:latin typeface="Calibri" panose="020F0502020204030204" pitchFamily="34" charset="0"/>
                        </a:rPr>
                        <a:t> reads from </a:t>
                      </a:r>
                      <a:r>
                        <a:rPr lang="en-GB" sz="1100" dirty="0" err="1">
                          <a:effectLst/>
                          <a:latin typeface="Calibri" panose="020F0502020204030204" pitchFamily="34" charset="0"/>
                        </a:rPr>
                        <a:t>bigquery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2952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C1A2971-9ACC-4166-B062-6DDE417FFD49}"/>
              </a:ext>
            </a:extLst>
          </p:cNvPr>
          <p:cNvSpPr txBox="1"/>
          <p:nvPr/>
        </p:nvSpPr>
        <p:spPr>
          <a:xfrm>
            <a:off x="8360833" y="803544"/>
            <a:ext cx="3725334" cy="6017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config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config.py (Config class)</a:t>
            </a:r>
          </a:p>
          <a:p>
            <a:pPr marL="685800" marR="0">
              <a:buNone/>
            </a:pP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src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infrastructure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edgar_client.py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database_manager.py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logger.py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ingestion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ingestion.py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schemas.py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ml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notebooks</a:t>
            </a:r>
          </a:p>
          <a:p>
            <a:pPr marL="10287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scripts</a:t>
            </a:r>
          </a:p>
          <a:p>
            <a:pPr marL="342900" marR="0">
              <a:buNone/>
            </a:pP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dbt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68580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dbt_project.yml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68580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profiles.yml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models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tests</a:t>
            </a:r>
          </a:p>
          <a:p>
            <a:pPr marL="342900" marR="0">
              <a:buNone/>
            </a:pP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docs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architecture.md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eda_findings.md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ml_findings.md</a:t>
            </a:r>
          </a:p>
          <a:p>
            <a:pPr marL="6858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powerbi_findings.md</a:t>
            </a:r>
          </a:p>
          <a:p>
            <a:pPr marL="342900" marR="0">
              <a:buNone/>
            </a:pP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run.py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.env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.</a:t>
            </a:r>
            <a:r>
              <a:rPr lang="en-GB" sz="1100" dirty="0" err="1">
                <a:effectLst/>
                <a:latin typeface="Calibri" panose="020F0502020204030204" pitchFamily="34" charset="0"/>
              </a:rPr>
              <a:t>gitignore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README.md</a:t>
            </a:r>
          </a:p>
          <a:p>
            <a:pPr marL="34290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powerbi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9E3F7-6419-6DA4-B60B-54EDFAB5CE47}"/>
              </a:ext>
            </a:extLst>
          </p:cNvPr>
          <p:cNvSpPr txBox="1"/>
          <p:nvPr/>
        </p:nvSpPr>
        <p:spPr>
          <a:xfrm>
            <a:off x="252069" y="3002915"/>
            <a:ext cx="372533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python run.py ingest (stage 1)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python run.py transform (stage 3)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python run.py train (stage 4)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python run.py pipeline (all)</a:t>
            </a:r>
          </a:p>
          <a:p>
            <a:pPr marL="34290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099A3-9111-F12F-C34F-C15877790A00}"/>
              </a:ext>
            </a:extLst>
          </p:cNvPr>
          <p:cNvSpPr txBox="1"/>
          <p:nvPr/>
        </p:nvSpPr>
        <p:spPr>
          <a:xfrm>
            <a:off x="205502" y="5011580"/>
            <a:ext cx="381616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raw =&gt; dim/fact =&gt; int =&gt; mart =&gt; ml</a:t>
            </a:r>
          </a:p>
          <a:p>
            <a:pPr marL="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ml reads from mart only</a:t>
            </a:r>
          </a:p>
          <a:p>
            <a:pPr marL="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powerbi</a:t>
            </a:r>
            <a:r>
              <a:rPr lang="en-GB" sz="1100" dirty="0">
                <a:effectLst/>
                <a:latin typeface="Calibri" panose="020F0502020204030204" pitchFamily="34" charset="0"/>
              </a:rPr>
              <a:t> reads mart and ml</a:t>
            </a:r>
          </a:p>
          <a:p>
            <a:pPr marL="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100" dirty="0" err="1">
                <a:effectLst/>
                <a:latin typeface="Calibri" panose="020F0502020204030204" pitchFamily="34" charset="0"/>
              </a:rPr>
              <a:t>jupyter</a:t>
            </a:r>
            <a:r>
              <a:rPr lang="en-GB" sz="1100" dirty="0">
                <a:effectLst/>
                <a:latin typeface="Calibri" panose="020F0502020204030204" pitchFamily="34" charset="0"/>
              </a:rPr>
              <a:t> notebooks for ml initially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597A2-A38A-7501-28BD-7D1A51C4C27C}"/>
              </a:ext>
            </a:extLst>
          </p:cNvPr>
          <p:cNvSpPr/>
          <p:nvPr/>
        </p:nvSpPr>
        <p:spPr>
          <a:xfrm>
            <a:off x="8360832" y="418311"/>
            <a:ext cx="3725334" cy="3852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VSCODE</a:t>
            </a:r>
            <a:r>
              <a:rPr lang="en-GB" dirty="0">
                <a:solidFill>
                  <a:schemeClr val="bg1"/>
                </a:solidFill>
              </a:rPr>
              <a:t> FOLDER SETUP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D1317-806A-59CA-2A1E-646B417773F1}"/>
              </a:ext>
            </a:extLst>
          </p:cNvPr>
          <p:cNvSpPr/>
          <p:nvPr/>
        </p:nvSpPr>
        <p:spPr>
          <a:xfrm>
            <a:off x="252069" y="2582857"/>
            <a:ext cx="3725334" cy="3852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CLI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7F8D3B-A948-878E-3F40-0A465EDD8462}"/>
              </a:ext>
            </a:extLst>
          </p:cNvPr>
          <p:cNvSpPr/>
          <p:nvPr/>
        </p:nvSpPr>
        <p:spPr>
          <a:xfrm>
            <a:off x="0" y="0"/>
            <a:ext cx="12192000" cy="3852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CC05F1-B7E9-D8CF-C979-B3A672845349}"/>
              </a:ext>
            </a:extLst>
          </p:cNvPr>
          <p:cNvSpPr/>
          <p:nvPr/>
        </p:nvSpPr>
        <p:spPr>
          <a:xfrm>
            <a:off x="252069" y="4480243"/>
            <a:ext cx="3725334" cy="3852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408309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941</Words>
  <Application>Microsoft Office PowerPoint</Application>
  <PresentationFormat>Widescreen</PresentationFormat>
  <Paragraphs>192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samet ceven</dc:creator>
  <cp:lastModifiedBy>samet ceven</cp:lastModifiedBy>
  <cp:revision>46</cp:revision>
  <dcterms:created xsi:type="dcterms:W3CDTF">2026-05-10T11:44:21Z</dcterms:created>
  <dcterms:modified xsi:type="dcterms:W3CDTF">2026-05-11T16:38:54Z</dcterms:modified>
</cp:coreProperties>
</file>